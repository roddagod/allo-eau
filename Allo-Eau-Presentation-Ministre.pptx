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20095" y="54864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20095" y="57150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820095" y="59436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048695" y="54864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48695" y="57150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48695" y="59436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77295" y="54864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277295" y="57150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277295" y="5943600"/>
            <a:ext cx="45720" cy="4572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 spc="400">
                <a:solidFill>
                  <a:srgbClr val="FFFFFF"/>
                </a:solidFill>
                <a:latin typeface="Calibri"/>
              </a:rPr>
              <a:t>ALLÔ 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03320"/>
            <a:ext cx="1097280" cy="38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Plateforme officielle de commande et de livraison d’eau potable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E2E8F0"/>
                </a:solidFill>
                <a:latin typeface="Calibri"/>
              </a:rPr>
              <a:t>Dispositif d’urgence hydrique — Grand Libreville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Juillet 2026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68781F8-1415-FD32-D8C0-446FFCCCB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44" t="12826" r="5632" b="4843"/>
          <a:stretch>
            <a:fillRect/>
          </a:stretch>
        </p:blipFill>
        <p:spPr>
          <a:xfrm>
            <a:off x="9317311" y="411480"/>
            <a:ext cx="2456122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Un état d’urgence hydrique décrété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La distribution d’eau potable à Libreville est un enjeu de service public prioritaire.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246120"/>
            <a:ext cx="365760" cy="3500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1F3480"/>
                </a:solidFill>
                <a:latin typeface="Calibri"/>
              </a:rPr>
              <a:t>01/07/2026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Décret d’état d’urgence hydrique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Le Gouvernement a activé un dispositif exceptionnel de distribution coordonnée d’eau potable dans le Grand Libreville.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9260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17720" y="3246120"/>
            <a:ext cx="365760" cy="3500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429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1F3480"/>
                </a:solidFill>
                <a:latin typeface="Calibri"/>
              </a:rPr>
              <a:t>4 000 FCFA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97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Tarif réglementé — cuve 1 000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6634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Livraison à domicile incluse. Tarifs officiels publiés par communiqué ministériel, opposables aux opérateurs.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9260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58200" y="3246120"/>
            <a:ext cx="365760" cy="3500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42900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GA" sz="4200" b="1" i="0" dirty="0">
                <a:solidFill>
                  <a:srgbClr val="1F3480"/>
                </a:solidFill>
                <a:latin typeface="Calibri"/>
              </a:rPr>
              <a:t>2</a:t>
            </a:r>
            <a:r>
              <a:rPr sz="4200" b="1" i="0" dirty="0">
                <a:solidFill>
                  <a:srgbClr val="1F3480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297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Quartiers desservis dès le lancement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6634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  <a:latin typeface="Calibri"/>
              </a:rPr>
              <a:t>Couverture progressive du Grand Libreville, avec extension possible aux communes </a:t>
            </a:r>
            <a:r>
              <a:rPr sz="1050" b="0" i="0" dirty="0" err="1">
                <a:solidFill>
                  <a:srgbClr val="475569"/>
                </a:solidFill>
                <a:latin typeface="Calibri"/>
              </a:rPr>
              <a:t>limitrophes</a:t>
            </a:r>
            <a:r>
              <a:rPr sz="1050" b="0" i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NOTRE PROPOSITION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Allô Eau, la plateforme du dispositif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Un guichet numérique unique, opérationnel, taillé pour la crise.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1277295" cy="1280160"/>
          </a:xfrm>
          <a:prstGeom prst="roundRect">
            <a:avLst>
              <a:gd name="adj" fmla="val 6000"/>
            </a:avLst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CD116"/>
                </a:solidFill>
                <a:latin typeface="Calibri"/>
              </a:rPr>
              <a:t>UN CITOYEN, UNE COMMANDE, UN LIVREUR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De la commande au foyer en moins de 60 minutes en régime nominal, avec traçabilité complète et tarif réglementé.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37033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09E60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Commande simple, avec ou sans compte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Web mobile-first, validation par SMS pour les citoyens sans compte, tarif transparent.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572000"/>
            <a:ext cx="37033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09E60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3035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Dispatch automatique et souverain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6235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Attribution instantanée à un opérateur homologué couvrant le quartier — Forces de Défense et privés.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572000"/>
            <a:ext cx="37033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09E6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3035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Pilotage ministériel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6235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Backoffice de crise, carte des opérations, alertes et reporting instantanés.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FONCTIONNEMENT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Le cycle d’une commande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0111" y="26517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0111" y="276148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" y="32004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471" y="3566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Commande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471" y="402336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Le citoyen commande via le portail ou en
appelant un numéro vert.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6283" y="4480560"/>
            <a:ext cx="91440" cy="15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62959" y="26517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2959" y="276148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1439" y="32004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4319" y="3566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4319" y="402336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La plateforme attribue automatiquement
la commande à un opérateur couvrant
le quartier.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9131" y="4480560"/>
            <a:ext cx="91440" cy="15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75807" y="26517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75807" y="276148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4287" y="32004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27167" y="3566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Acceptation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7167" y="402336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L’opérateur accepte ; en cas de refus,
la commande bascule automatiquement
sur l’opérateur suivant.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1979" y="4480560"/>
            <a:ext cx="91440" cy="15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88655" y="26517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88655" y="276148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57135" y="32004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0015" y="3566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Livraison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0015" y="402336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Le livreur reçoit la mission, se géolocalise
en temps réel, transmet ses statuts.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64827" y="4480560"/>
            <a:ext cx="91440" cy="150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01503" y="265176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01503" y="276148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9983" y="32004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52863" y="3566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Clôture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2863" y="402336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Livraison confirmée, notification client,
reporting ministériel mis à jour.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PORTAIL 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Le citoyen au cœur du dispositif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allo-eau.ga — accessible sur tout mobile, sans installation.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PARCOURS CITOYEN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4 étapes guidées, mobile-first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0F172A"/>
                </a:solidFill>
                <a:latin typeface="Calibri"/>
              </a:rPr>
              <a:t>•  Contact — nom, téléphone Gabon (07/06)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Calibri"/>
              </a:rPr>
              <a:t>•  Adresse — quartier, adresse précise, position GPS optionnelle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Calibri"/>
              </a:rPr>
              <a:t>•  Volume — cuve et quantité, tarif transparent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Calibri"/>
              </a:rPr>
              <a:t>•  Créneau et paiement — créneaux prédéfinis, moyens de paiement locaux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92608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32004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CD116"/>
                </a:solidFill>
                <a:latin typeface="Calibri"/>
              </a:rPr>
              <a:t>VALIDATION PAR SMS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204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Commander sans compte, en toute sécurité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0624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Aucune inscription requise. Le citoyen reçoit un code de vérification par SMS. La commande est validée, un lien court de suivi lui est envoyé, et il peut consulter l’avancement à tout moment.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5778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FCD116"/>
                </a:solidFill>
                <a:latin typeface="Consolas"/>
              </a:rPr>
              <a:t>allo-eau.ga/s/aBc123X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BACKOFFICE MINISTÉRIEL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0F172A"/>
                </a:solidFill>
                <a:latin typeface="Calibri"/>
              </a:rPr>
              <a:t>Un </a:t>
            </a:r>
            <a:r>
              <a:rPr sz="3000" b="1" i="0" dirty="0" err="1">
                <a:solidFill>
                  <a:srgbClr val="0F172A"/>
                </a:solidFill>
                <a:latin typeface="Calibri"/>
              </a:rPr>
              <a:t>centre</a:t>
            </a:r>
            <a:r>
              <a:rPr sz="3000" b="1" i="0" dirty="0">
                <a:solidFill>
                  <a:srgbClr val="0F172A"/>
                </a:solidFill>
                <a:latin typeface="Calibri"/>
              </a:rPr>
              <a:t> de pilotage de crise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769298"/>
            <a:ext cx="3962095" cy="444862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1491" y="1966368"/>
            <a:ext cx="327589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 dirty="0">
                <a:solidFill>
                  <a:srgbClr val="009E60"/>
                </a:solidFill>
                <a:latin typeface="Calibri"/>
              </a:rPr>
              <a:t>CAPACITÉS DE PILOTAGE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1491" y="2358262"/>
            <a:ext cx="3464404" cy="1708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Vue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en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direct de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toutes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les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commandes</a:t>
            </a:r>
            <a:r>
              <a:rPr sz="1200" dirty="0">
                <a:solidFill>
                  <a:srgbClr val="0F172A"/>
                </a:solidFill>
                <a:latin typeface="Calibri"/>
              </a:rPr>
              <a:t>, des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livreurs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et des sociétés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Réassignation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manuelle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en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un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clic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— société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ou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livreur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spécifique</a:t>
            </a:r>
            <a:endParaRPr sz="1200" dirty="0">
              <a:solidFill>
                <a:srgbClr val="0F172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Gestion CRUD : sociétés, zones,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tarifs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versionnés</a:t>
            </a:r>
            <a:r>
              <a:rPr sz="1200" dirty="0">
                <a:solidFill>
                  <a:srgbClr val="0F172A"/>
                </a:solidFill>
                <a:latin typeface="Calibri"/>
              </a:rPr>
              <a:t>),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livreurs</a:t>
            </a:r>
            <a:endParaRPr sz="1200" dirty="0">
              <a:solidFill>
                <a:srgbClr val="0F172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Fil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d’actualité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temps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réel</a:t>
            </a:r>
            <a:r>
              <a:rPr sz="1200" dirty="0">
                <a:solidFill>
                  <a:srgbClr val="0F172A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alertes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incidents,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taux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de couverture par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secteur</a:t>
            </a:r>
            <a:endParaRPr sz="120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85501903-4303-BF2A-9C25-897C7522D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5298"/>
            <a:ext cx="7259904" cy="4448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APPLICATION LIVREUR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Une PWA installable sur tout smartphone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livreur.allo-eau.ga — pas de téléchargement Play Store nécessaire.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37033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3703320" cy="137160"/>
          </a:xfrm>
          <a:prstGeom prst="rect">
            <a:avLst/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TOURNÉE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Ma tournée du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Liste ordonnée des livraisons du jour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Détail commande + adresse + repère + client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Bouton d’itinéraire Google Maps intégré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926080"/>
            <a:ext cx="37033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2926080"/>
            <a:ext cx="3703320" cy="137160"/>
          </a:xfrm>
          <a:prstGeom prst="rect">
            <a:avLst/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3832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STATUTS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033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Transitions guidées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343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En route → Arrivée → Livrée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Déclaration d’incident avec motif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Détection automatique d’arrivée à proximité (&lt; 100 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926080"/>
            <a:ext cx="37033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2926080"/>
            <a:ext cx="3703320" cy="137160"/>
          </a:xfrm>
          <a:prstGeom prst="rect">
            <a:avLst/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3832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7033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Géolocalisation économe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34340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Envoi de position toutes les 30 secondes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Seuils intelligents pour préserver la batterie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Confidentialité : traces purgées quotidiennement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INTELLIGENCE INTÉGRÉE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Des automatisations éprouvées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La plateforme prend les décisions opérationnelles pour raccourcir les délais.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137160" cy="160020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Dispatch géographique automatique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La commande est instantanément attribuée à la société homologuée qui couvre le quartier concerné, en tenant compte de la charge et de la disponibilité.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8036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880360"/>
            <a:ext cx="137160" cy="160020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Cascade de refus intelligente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20440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Si une société refuse la commande, la plateforme la redispatche automatiquement à l’opérateur suivant, sans intervention humaine, avec garde-fou anti-boucle.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137160" cy="160020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Affectation livreur équilibrée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Attribution automatique au livreur le moins chargé de la société. Extensible à un tri géographique pour les flottes importantes.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663440"/>
            <a:ext cx="553212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4663440"/>
            <a:ext cx="137160" cy="160020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489204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Détection d’arrivée par géofencing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303520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Le statut « arrivé à proximité » bascule automatiquement lorsque le livreur est à moins de 100 m du point de livraison — sans action manuelle.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SÉCURITÉ ET SOUVERAINETÉ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Une plateforme de service 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Conçue selon les exigences des systèmes transactionnels réglementés.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3703320" cy="457200"/>
          </a:xfrm>
          <a:prstGeom prst="rect">
            <a:avLst/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8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SÉCURITÉ APPLICATIVE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30632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Chiffrement TLS 1.3 de bout en bout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Isolation stricte des données par rôle (RLS PostgreSQL)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Trigger anti-escalade de privilège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Journal d’audit des actions sensibles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Rate limiting et protection CSRF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88036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2880360"/>
            <a:ext cx="3703320" cy="45720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990088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566160"/>
            <a:ext cx="30632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Hébergement Union Européenne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Sauvegardes quotidiennes chiffrées AES-256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Purge automatique des positions GPS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Versionning historisé des paramètres tarifaires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Aucune donnée personnelle exportée hors dispositif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88036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880360"/>
            <a:ext cx="3703320" cy="457200"/>
          </a:xfrm>
          <a:prstGeom prst="rect">
            <a:avLst/>
          </a:prstGeom>
          <a:solidFill>
            <a:srgbClr val="142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990088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GOUVERNANCE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566160"/>
            <a:ext cx="30632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Rôles institutionnels séparés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Traçabilité complète des dispatches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Contrôle Ministère sur tarifs et sociétés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Extensible : WAF, MFA, SIEM, pentest, ISO 27001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Prêt pour une homologation formelle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OPTIONS ET ÉVOLUTIONS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Extensions immédiates disponibles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La plateforme peut être enrichie sans refonte.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5532120" cy="3383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164592" cy="338328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Canal USSD (*XXX#)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Commander depuis un téléphone basique, sans internet.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4800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Menu textuel guidé accessible sur tout mobile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Enregistrement dans la même base de données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Confirmation par SMS à réception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Élargit la couverture au public non connecté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009E60"/>
                </a:solidFill>
                <a:latin typeface="Calibri"/>
              </a:rPr>
              <a:t>Négociation code court USSD requise auprès des opérateurs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80360"/>
            <a:ext cx="5532120" cy="3383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2880360"/>
            <a:ext cx="164592" cy="3383280"/>
          </a:xfrm>
          <a:prstGeom prst="rect">
            <a:avLst/>
          </a:prstGeom>
          <a:solidFill>
            <a:srgbClr val="00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1546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Numéros verts et Centre d’appels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1188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Prise de commande téléphonique par un agent.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69080"/>
            <a:ext cx="4800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Intégration à un centre d’appels existant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Poste opérateur avec saisie assistée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5 numéros verts déjà mis en évidence (18, 181, 182, 183, 184)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  <a:latin typeface="Calibri"/>
              </a:rPr>
              <a:t>•  Complémentaire au canal citoyen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80644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009E60"/>
                </a:solidFill>
                <a:latin typeface="Calibri"/>
              </a:rPr>
              <a:t>Sur devis complémentaire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320040" cy="24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F3480"/>
                </a:solidFill>
                <a:latin typeface="Calibri"/>
              </a:rPr>
              <a:t>ALLÔ 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475569"/>
                </a:solidFill>
                <a:latin typeface="Calibri"/>
              </a:rPr>
              <a:t>MINISTÈRE DE L’ACCÈS UNIVERSEL À L’EAU ET À L’ÉNERGIE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25603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09E60"/>
                </a:solidFill>
                <a:latin typeface="Calibri"/>
              </a:rPr>
              <a:t>PRÉREQUIS À SÉCURISER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Un chantier régalien pour le Ministère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La négociation opérateurs conditionne le succès budgétaire du dispositif.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11277295" cy="1737360"/>
          </a:xfrm>
          <a:prstGeom prst="roundRect">
            <a:avLst>
              <a:gd name="adj" fmla="val 6000"/>
            </a:avLst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FCD116"/>
                </a:solidFill>
                <a:latin typeface="Calibri"/>
              </a:rPr>
              <a:t>CONVENTION SMS AVEC LES OPÉRATEURS TÉLÉCOMS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106372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Le Ministère négocie auprès d’Airtel Gabon, Moov Africa Gabon et Gabon Telecom :
  •  L’intégration technique de la plateforme (identifiant émetteur dédié)
  •  La gratuité ou la subvention des SMS au titre du dispositif d’urgence hydrique
  •  La fourniture des identifiants techniques d’intégration à la plateforme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77295" cy="1874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009E60"/>
                </a:solidFill>
                <a:latin typeface="Calibri"/>
              </a:rPr>
              <a:t>IMPACT BUDGÉTAIRE — CHIFFRE REPÈRE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À défaut de convention, coût mensuel estimé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978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F3480"/>
                </a:solidFill>
                <a:latin typeface="Calibri"/>
              </a:rPr>
              <a:t>~ 6,7 M FCFA /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09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Sur la base de 5 000 commandes/jour et 3 SMS par commande.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48640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Avec convention opérateurs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8978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9E60"/>
                </a:solidFill>
                <a:latin typeface="Calibri"/>
              </a:rPr>
              <a:t>Coût nul ou marginal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309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Précédent : campagnes de santé publique et alertes sanitaires.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55080"/>
            <a:ext cx="11277295" cy="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Confidentiel — Dispositif d’urgence hydrique du Grand Libreville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CD116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Calibri"/>
              </a:rPr>
              <a:t>Allô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Eau est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opérationnelle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,
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testée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et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prête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à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servir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le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citoyen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1097280" cy="38000"/>
          </a:xfrm>
          <a:prstGeom prst="rect">
            <a:avLst/>
          </a:prstGeom>
          <a:solidFill>
            <a:srgbClr val="FCD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3832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4200" b="1" dirty="0">
                <a:solidFill>
                  <a:srgbClr val="FFFFFF"/>
                </a:solidFill>
                <a:latin typeface="Calibri"/>
              </a:rPr>
              <a:t>1</a:t>
            </a:r>
            <a:r>
              <a:rPr sz="4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200" b="1" i="0" dirty="0" err="1">
                <a:solidFill>
                  <a:srgbClr val="FFFFFF"/>
                </a:solidFill>
                <a:latin typeface="Calibri"/>
              </a:rPr>
              <a:t>semaine</a:t>
            </a:r>
            <a:endParaRPr sz="4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Délai de mise à disposition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CD116"/>
                </a:solidFill>
                <a:latin typeface="Calibri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1332</Words>
  <Application>Microsoft Macintosh PowerPoint</Application>
  <PresentationFormat>Grand écran</PresentationFormat>
  <Paragraphs>190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Rodrigue Mensah KOUBLANOU NKOMBE</cp:lastModifiedBy>
  <cp:revision>3</cp:revision>
  <dcterms:created xsi:type="dcterms:W3CDTF">2013-01-27T09:14:16Z</dcterms:created>
  <dcterms:modified xsi:type="dcterms:W3CDTF">2026-07-08T10:45:03Z</dcterms:modified>
  <cp:category/>
</cp:coreProperties>
</file>