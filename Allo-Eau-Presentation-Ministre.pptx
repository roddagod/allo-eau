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20095" y="54864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57150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20095" y="59436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54864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48695" y="57150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48695" y="59436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77295" y="54864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277295" y="57150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277295" y="5943600"/>
            <a:ext cx="45720" cy="4572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57200"/>
            <a:ext cx="164592" cy="82296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164592" cy="82296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16459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40080"/>
            <a:ext cx="100584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 spc="400">
                <a:solidFill>
                  <a:srgbClr val="FFFFFF"/>
                </a:solidFill>
                <a:latin typeface="Calibri"/>
              </a:rPr>
              <a:t>RÉPUBLIQUE GABONAISE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005840"/>
            <a:ext cx="100584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 spc="250">
                <a:solidFill>
                  <a:srgbClr val="E2E8F0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7200" b="1" i="0" spc="400">
                <a:solidFill>
                  <a:srgbClr val="FFFFFF"/>
                </a:solidFill>
                <a:latin typeface="Calibri"/>
              </a:rPr>
              <a:t>ALLÔ 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03320"/>
            <a:ext cx="1097280" cy="38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86200"/>
            <a:ext cx="100584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Plateforme officielle de commande et de livraison d’eau potable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434840"/>
            <a:ext cx="1005840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600" b="0" i="1">
                <a:solidFill>
                  <a:srgbClr val="E2E8F0"/>
                </a:solidFill>
                <a:latin typeface="Calibri"/>
              </a:rPr>
              <a:t>Dispositif d’urgence hydrique — Grand Libreville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400">
                <a:solidFill>
                  <a:srgbClr val="FCD116"/>
                </a:solidFill>
                <a:latin typeface="Calibri"/>
              </a:rPr>
              <a:t>PRÉSENTATION AU MINISTRE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CONTEXTE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Un état d’urgence hydrique décrété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La distribution d’eau potable à Libreville est un enjeu de service public prioritaire.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3703320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246120"/>
            <a:ext cx="365760" cy="350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3063240" cy="10972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4200" b="1" i="0">
                <a:solidFill>
                  <a:srgbClr val="1F3480"/>
                </a:solidFill>
                <a:latin typeface="Calibri"/>
              </a:rPr>
              <a:t>01/07/2026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97680"/>
            <a:ext cx="306324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Décret d’état d’urgence hydrique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3063240" cy="9144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Le Gouvernement a activé un dispositif exceptionnel de distribution coordonnée d’eau potable dans le Grand Libreville.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2926080"/>
            <a:ext cx="3703320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17720" y="3246120"/>
            <a:ext cx="365760" cy="350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429000"/>
            <a:ext cx="3063240" cy="10972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4200" b="1" i="0">
                <a:solidFill>
                  <a:srgbClr val="1F3480"/>
                </a:solidFill>
                <a:latin typeface="Calibri"/>
              </a:rPr>
              <a:t>4 000 FCFA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297680"/>
            <a:ext cx="306324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Tarif réglementé — cuve 1 000 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663440"/>
            <a:ext cx="3063240" cy="9144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Livraison à domicile incluse. Tarifs officiels publiés par communiqué ministériel, opposables aux opérateurs.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926080"/>
            <a:ext cx="3703320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58200" y="3246120"/>
            <a:ext cx="365760" cy="350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3429000"/>
            <a:ext cx="3063240" cy="10972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4200" b="1" i="0">
                <a:solidFill>
                  <a:srgbClr val="1F3480"/>
                </a:solidFill>
                <a:latin typeface="Calibri"/>
              </a:rP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4297680"/>
            <a:ext cx="306324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Quartiers desservis dès le lancement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663440"/>
            <a:ext cx="3063240" cy="9144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Couverture progressive du Grand Libreville, avec extension possible aux communes limitrophes.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NOTRE PROPOSITION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Allô Eau, la plateforme du dispositif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Un guichet numérique unique, opérationnel, taillé pour la crise.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11277295" cy="128016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10545775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 spc="400">
                <a:solidFill>
                  <a:srgbClr val="FCD116"/>
                </a:solidFill>
                <a:latin typeface="Calibri"/>
              </a:rPr>
              <a:t>UN CITOYEN, UNE COMMANDE, UN LIVREUR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10545775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De la commande au foyer en moins de 60 minutes en régime nominal, avec traçabilité complète et tarif réglementé.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72000"/>
            <a:ext cx="37033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846320"/>
            <a:ext cx="4572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800" b="1" i="0">
                <a:solidFill>
                  <a:srgbClr val="009E60"/>
                </a:solidFill>
                <a:latin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035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Commande simple, avec ou sans compte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3063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Web mobile-first, validation par SMS pour les citoyens sans compte, tarif transparent.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572000"/>
            <a:ext cx="37033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846320"/>
            <a:ext cx="4572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800" b="1" i="0">
                <a:solidFill>
                  <a:srgbClr val="009E60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3035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Dispatch automatique et souverain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623560"/>
            <a:ext cx="3063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Attribution instantanée à un opérateur homologué couvrant le quartier — Forces de Défense et privés.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572000"/>
            <a:ext cx="37033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4846320"/>
            <a:ext cx="4572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800" b="1" i="0">
                <a:solidFill>
                  <a:srgbClr val="009E60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3035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Pilotage ministériel temps réel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623560"/>
            <a:ext cx="3063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Backoffice de crise, carte des opérations, alertes et reporting instantanés.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FONCTIONNEMENT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Le cycle d’une commande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50111" y="2651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0111" y="2761488"/>
            <a:ext cx="6400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" y="3200400"/>
            <a:ext cx="2103120" cy="26060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471" y="3566160"/>
            <a:ext cx="17373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Commande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471" y="4023360"/>
            <a:ext cx="1737360" cy="1645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050" b="0" i="0">
                <a:solidFill>
                  <a:srgbClr val="475569"/>
                </a:solidFill>
                <a:latin typeface="Calibri"/>
              </a:rPr>
              <a:t>Le citoyen commande via le portail ou en
appelant un numéro vert.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6283" y="4480560"/>
            <a:ext cx="91440" cy="15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62959" y="2651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959" y="2761488"/>
            <a:ext cx="6400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1439" y="3200400"/>
            <a:ext cx="2103120" cy="26060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4319" y="3566160"/>
            <a:ext cx="17373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Dispatch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4319" y="4023360"/>
            <a:ext cx="1737360" cy="1645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050" b="0" i="0">
                <a:solidFill>
                  <a:srgbClr val="475569"/>
                </a:solidFill>
                <a:latin typeface="Calibri"/>
              </a:rPr>
              <a:t>La plateforme attribue automatiquement
la commande à un opérateur couvrant
le quartier.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9131" y="4480560"/>
            <a:ext cx="91440" cy="15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75807" y="2651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75807" y="2761488"/>
            <a:ext cx="6400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44287" y="3200400"/>
            <a:ext cx="2103120" cy="26060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27167" y="3566160"/>
            <a:ext cx="17373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Acceptation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7167" y="4023360"/>
            <a:ext cx="1737360" cy="1645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050" b="0" i="0">
                <a:solidFill>
                  <a:srgbClr val="475569"/>
                </a:solidFill>
                <a:latin typeface="Calibri"/>
              </a:rPr>
              <a:t>L’opérateur accepte ; en cas de refus,
la commande bascule automatiquement
sur l’opérateur suivant.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1979" y="4480560"/>
            <a:ext cx="91440" cy="15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88655" y="2651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8655" y="2761488"/>
            <a:ext cx="6400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57135" y="3200400"/>
            <a:ext cx="2103120" cy="26060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0015" y="3566160"/>
            <a:ext cx="17373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Livraison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0015" y="4023360"/>
            <a:ext cx="1737360" cy="1645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050" b="0" i="0">
                <a:solidFill>
                  <a:srgbClr val="475569"/>
                </a:solidFill>
                <a:latin typeface="Calibri"/>
              </a:rPr>
              <a:t>Le livreur reçoit la mission, se géolocalise
en temps réel, transmet ses statuts.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64827" y="4480560"/>
            <a:ext cx="91440" cy="15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201503" y="2651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01503" y="2761488"/>
            <a:ext cx="6400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69983" y="3200400"/>
            <a:ext cx="2103120" cy="26060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2863" y="3566160"/>
            <a:ext cx="17373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Clôture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2863" y="4023360"/>
            <a:ext cx="1737360" cy="1645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/>
            <a:r>
              <a:rPr sz="1050" b="0" i="0">
                <a:solidFill>
                  <a:srgbClr val="475569"/>
                </a:solidFill>
                <a:latin typeface="Calibri"/>
              </a:rPr>
              <a:t>Livraison confirmée, notification client,
reporting ministériel mis à jour.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5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PORTAIL PUBLIC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Le citoyen au cœur du dispositif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allo-eau.ga — accessible sur tout mobile, sans installation.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7548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PARCOURS CITOYEN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475488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4 étapes guidées, mobile-first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4754880" cy="1828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Contact — nom, téléphone Gabon (07/06)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Adresse — quartier, adresse précise, position GPS optionnelle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Volume — cuve et quantité, tarif transparent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Créneau et paiement — créneaux prédéfinis, moyens de paiement locaux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9260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7548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FCD116"/>
                </a:solidFill>
                <a:latin typeface="Calibri"/>
              </a:rPr>
              <a:t>VALIDATION PAR SMS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20440"/>
            <a:ext cx="475488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Commander sans compte, en toute sécurité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06240"/>
            <a:ext cx="4754880" cy="1645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Aucune inscription requise. Le citoyen reçoit un code de vérification par SMS. La commande est validée, un lien court de suivi lui est envoyé, et il peut consulter l’avancement à tout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5577840"/>
            <a:ext cx="475488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0" i="1">
                <a:solidFill>
                  <a:srgbClr val="FCD116"/>
                </a:solidFill>
                <a:latin typeface="Consolas"/>
              </a:rPr>
              <a:t>allo-eau.ga/s/aBc123X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BACKOFFICE MINISTÉRIEL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Un centre de pilotage de crise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admin.allo-eau.ga — accès dédié Ministère et sociétés opératrices.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2716453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17520"/>
            <a:ext cx="2350693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FOYERS DESSERVIS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2350693" cy="502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1" i="0">
                <a:solidFill>
                  <a:srgbClr val="1F3480"/>
                </a:solidFill>
                <a:latin typeface="Calibri"/>
              </a:rPr>
              <a:t>12 480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40480"/>
            <a:ext cx="2350693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aujourd’hui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813" y="2880360"/>
            <a:ext cx="2716453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9413" y="3017520"/>
            <a:ext cx="2350693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VOLUME DISTRIBUÉ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9413" y="3291840"/>
            <a:ext cx="2350693" cy="502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1" i="0">
                <a:solidFill>
                  <a:srgbClr val="1F3480"/>
                </a:solidFill>
                <a:latin typeface="Calibri"/>
              </a:rPr>
              <a:t>4 320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9413" y="3840480"/>
            <a:ext cx="2350693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aujourd’hui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4427" y="2880360"/>
            <a:ext cx="2716453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3027" y="3017520"/>
            <a:ext cx="2350693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COMMANDES DU JOUR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3027" y="3291840"/>
            <a:ext cx="2350693" cy="502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1" i="0">
                <a:solidFill>
                  <a:srgbClr val="1F3480"/>
                </a:solidFill>
                <a:latin typeface="Calibri"/>
              </a:rPr>
              <a:t>2 156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3027" y="3840480"/>
            <a:ext cx="2350693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traitées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8041" y="2880360"/>
            <a:ext cx="2716453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6641" y="3017520"/>
            <a:ext cx="2350693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ÉCONOMIE CITOYENNE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6641" y="3291840"/>
            <a:ext cx="2350693" cy="502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1" i="0">
                <a:solidFill>
                  <a:srgbClr val="1F3480"/>
                </a:solidFill>
                <a:latin typeface="Calibri"/>
              </a:rPr>
              <a:t>18,7 M FCFA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6641" y="3840480"/>
            <a:ext cx="2350693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vs prix libre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80560"/>
            <a:ext cx="11277295" cy="17373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09160"/>
            <a:ext cx="100584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CAPACITÉS DE PILOTAGE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074920"/>
            <a:ext cx="10637215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Vue en direct de toutes les commandes, des livreurs et des sociétés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Réassignation manuelle en un clic — société ou livreur spécifique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Gestion CRUD : sociétés, zones, tarifs (versionnés), livreurs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  <a:latin typeface="Calibri"/>
              </a:rPr>
              <a:t>•  Fil d’actualité temps réel, alertes incidents, taux de couverture par secteur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7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APPLICATION LIVREUR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Une PWA installable sur tout smartphone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livreur.allo-eau.ga — pas de téléchargement Play Store nécessaire.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370332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703320" cy="137160"/>
          </a:xfrm>
          <a:prstGeom prst="rect">
            <a:avLst/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TOURNÉE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Ma tournée du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306324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Liste ordonnée des livraisons du jour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Détail commande + adresse + repère + client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Bouton d’itinéraire Google Maps intégré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2926080"/>
            <a:ext cx="370332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2926080"/>
            <a:ext cx="3703320" cy="137160"/>
          </a:xfrm>
          <a:prstGeom prst="rect">
            <a:avLst/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38328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STATUTS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70332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Transitions guidées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343400"/>
            <a:ext cx="306324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En route → Arrivée → Livrée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Déclaration d’incident avec motif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Détection automatique d’arrivée à proximité (&lt; 100 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926080"/>
            <a:ext cx="370332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2926080"/>
            <a:ext cx="3703320" cy="137160"/>
          </a:xfrm>
          <a:prstGeom prst="rect">
            <a:avLst/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338328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70332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Géolocalisation économe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343400"/>
            <a:ext cx="306324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Envoi de position toutes les 30 secondes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Seuils intelligents pour préserver la batterie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Confidentialité : traces purgées quotidiennement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INTELLIGENCE INTÉGRÉE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Des automatisations éprouvées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La plateforme prend les décisions opérationnelles pour raccourcir les délais.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5532120" cy="1600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80360"/>
            <a:ext cx="137160" cy="16002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498348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Dispatch géographique automatique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498348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La commande est instantanément attribuée à la société homologuée qui couvre le quartier concerné, en tenant compte de la charge et de la disponibilité.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80360"/>
            <a:ext cx="5532120" cy="1600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880360"/>
            <a:ext cx="137160" cy="16002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108960"/>
            <a:ext cx="498348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Cascade de refus intelligente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20440"/>
            <a:ext cx="498348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Si une société refuse la commande, la plateforme la redispatche automatiquement à l’opérateur suivant, sans intervention humaine, avec garde-fou anti-boucle.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63440"/>
            <a:ext cx="5532120" cy="1600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137160" cy="16002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92040"/>
            <a:ext cx="498348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Affectation livreur équilibrée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303520"/>
            <a:ext cx="498348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Attribution automatique au livreur le moins chargé de la société. Extensible à un tri géographique pour les flottes importantes.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663440"/>
            <a:ext cx="5532120" cy="1600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663440"/>
            <a:ext cx="137160" cy="16002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892040"/>
            <a:ext cx="498348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Détection d’arrivée par géofencing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303520"/>
            <a:ext cx="498348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Le statut « arrivé à proximité » bascule automatiquement lorsque le livreur est à moins de 100 m du point de livraison — sans action manuelle.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SÉCURITÉ ET SOUVERAINETÉ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Une plateforme de service public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Conçue selon les exigences des systèmes transactionnels réglementés.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37033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80360"/>
            <a:ext cx="3703320" cy="457200"/>
          </a:xfrm>
          <a:prstGeom prst="rect">
            <a:avLst/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90088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SÉCURITÉ APPLICATIVE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3063240" cy="2560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Chiffrement TLS 1.3 de bout en bout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Isolation stricte des données par rôle (RLS PostgreSQL)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Trigger anti-escalade de privilège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Journal d’audit des actions sensibles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Rate limiting et protection CSRF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880360"/>
            <a:ext cx="37033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880360"/>
            <a:ext cx="3703320" cy="45720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990088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566160"/>
            <a:ext cx="3063240" cy="2560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Hébergement Union Européenne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Sauvegardes quotidiennes chiffrées AES-256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Purge automatique des positions GPS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Versionning historisé des paramètres tarifaires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Aucune donnée personnelle exportée hors dispositif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880360"/>
            <a:ext cx="37033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880360"/>
            <a:ext cx="3703320" cy="457200"/>
          </a:xfrm>
          <a:prstGeom prst="rect">
            <a:avLst/>
          </a:prstGeom>
          <a:solidFill>
            <a:srgbClr val="142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2990088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GOUVERNANCE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566160"/>
            <a:ext cx="3063240" cy="2560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Rôles institutionnels séparés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Traçabilité complète des dispatches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Contrôle Ministère sur tarifs et sociétés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Extensible : WAF, MFA, SIEM, pentest, ISO 27001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Prêt pour une homologation formelle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10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CAPACITÉ DE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Dimensionnée pour la crise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Trois paliers de charge couverts par une même architecture, sans réécriture.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703320" cy="548640"/>
          </a:xfrm>
          <a:prstGeom prst="rect">
            <a:avLst/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63240"/>
            <a:ext cx="30632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FFFFFF"/>
                </a:solidFill>
                <a:latin typeface="Calibri"/>
              </a:rPr>
              <a:t>PALIER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Lancement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033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COMMANDES/JOUR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Jusqu’à 5 000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LIVREURS ACTIFS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~ 170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1500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Cloud sécurisé UE — coût maîtrisé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92608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926080"/>
            <a:ext cx="3703320" cy="54864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3063240"/>
            <a:ext cx="30632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FFFFFF"/>
                </a:solidFill>
                <a:latin typeface="Calibri"/>
              </a:rPr>
              <a:t>PALIER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2461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Montée en charge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7033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COMMANDES/JOUR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02336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5 000 — 20 000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6177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LIVREURS ACTIFS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89204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~ 700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44068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571500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Bascule dispatch géographique + Kubernetes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292608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926080"/>
            <a:ext cx="3703320" cy="548640"/>
          </a:xfrm>
          <a:prstGeom prst="rect">
            <a:avLst/>
          </a:prstGeom>
          <a:solidFill>
            <a:srgbClr val="142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063240"/>
            <a:ext cx="30632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FFFFFF"/>
                </a:solidFill>
                <a:latin typeface="Calibri"/>
              </a:rPr>
              <a:t>PALIER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2461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Crise plein régime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37033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COMMANDES/JOUR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02336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20 000 — 50 000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461772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LIVREURS ACTIFS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489204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~ 1 700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5440680"/>
            <a:ext cx="30632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900" b="1" i="0" spc="200">
                <a:solidFill>
                  <a:srgbClr val="94A3B8"/>
                </a:solidFill>
                <a:latin typeface="Calibri"/>
              </a:rPr>
              <a:t>INFRASTRUCTURE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5715000"/>
            <a:ext cx="306324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Cluster souverain élargi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OPTIONS ET ÉVOLUTIONS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Extensions immédiates disponibles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La plateforme peut être enrichie sans refonte.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5532120" cy="33832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80360"/>
            <a:ext cx="164592" cy="338328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54680"/>
            <a:ext cx="489204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Canal USSD (*XXX#)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48920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Commander depuis un téléphone basique, sans internet.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480060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Menu textuel guidé accessible sur tout mobile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Enregistrement dans la même base de données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Confirmation par SMS à réception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Élargit la couverture au public non connecté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06440"/>
            <a:ext cx="48920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1">
                <a:solidFill>
                  <a:srgbClr val="009E60"/>
                </a:solidFill>
                <a:latin typeface="Calibri"/>
              </a:rPr>
              <a:t>Négociation code court USSD requise auprès des opérateurs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880360"/>
            <a:ext cx="5532120" cy="33832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880360"/>
            <a:ext cx="164592" cy="338328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154680"/>
            <a:ext cx="489204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Numéros verts et Centre d’appels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611880"/>
            <a:ext cx="48920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Prise de commande téléphonique par un agent.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069080"/>
            <a:ext cx="480060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Intégration à un centre d’appels existant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Poste opérateur avec saisie assistée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5 numéros verts déjà mis en évidence (18, 181, 182, 183, 184)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F172A"/>
                </a:solidFill>
                <a:latin typeface="Calibri"/>
              </a:rPr>
              <a:t>•  Complémentaire au canal citoyen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806440"/>
            <a:ext cx="48920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1">
                <a:solidFill>
                  <a:srgbClr val="009E60"/>
                </a:solidFill>
                <a:latin typeface="Calibri"/>
              </a:rPr>
              <a:t>Sur devis complémentaire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320040" cy="24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1F3480"/>
                </a:solidFill>
                <a:latin typeface="Calibri"/>
              </a:rPr>
              <a:t>ALLÔ 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1" i="0" spc="200">
                <a:solidFill>
                  <a:srgbClr val="475569"/>
                </a:solidFill>
                <a:latin typeface="Calibri"/>
              </a:rPr>
              <a:t>MINISTÈRE DE L’ACCÈS UNIVERSEL À L’EAU ET À L’ÉNERGIE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256032"/>
            <a:ext cx="822960" cy="25603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1" i="0" spc="300">
                <a:solidFill>
                  <a:srgbClr val="009E60"/>
                </a:solidFill>
                <a:latin typeface="Calibri"/>
              </a:rPr>
              <a:t>PRÉREQUIS À SÉCURISER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Un chantier régalien pour le Ministère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097280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La négociation opérateurs conditionne le succès budgétaire du dispositif.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11277295" cy="1737360"/>
          </a:xfrm>
          <a:prstGeom prst="roundRect">
            <a:avLst>
              <a:gd name="adj" fmla="val 6000"/>
            </a:avLst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10637215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50" b="1" i="0" spc="300">
                <a:solidFill>
                  <a:srgbClr val="FCD116"/>
                </a:solidFill>
                <a:latin typeface="Calibri"/>
              </a:rPr>
              <a:t>CONVENTION SMS AVEC LES OPÉRATEURS TÉLÉCOMS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10637215" cy="10972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Le Ministère négocie auprès d’Airtel Gabon, Moov Africa Gabon et Gabon Telecom :
  •  L’intégration technique de la plateforme (identifiant émetteur dédié)
  •  La gratuité ou la subvention des SMS au titre du dispositif d’urgence hydrique
  •  La fourniture des identifiants techniques d’intégration à la plateforme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11277295" cy="187451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074920"/>
            <a:ext cx="10637215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50" b="1" i="0" spc="300">
                <a:solidFill>
                  <a:srgbClr val="009E60"/>
                </a:solidFill>
                <a:latin typeface="Calibri"/>
              </a:rPr>
              <a:t>IMPACT BUDGÉTAIRE — CHIFFRE REPÈRE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86400"/>
            <a:ext cx="5029200" cy="6858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À défaut de convention, coût mensuel estimé 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97880"/>
            <a:ext cx="54864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400" b="1" i="0">
                <a:solidFill>
                  <a:srgbClr val="1F3480"/>
                </a:solidFill>
                <a:latin typeface="Calibri"/>
              </a:rPr>
              <a:t>~ 6,7 M FCFA / mois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09360"/>
            <a:ext cx="54864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Sur la base de 5 000 commandes/jour et 3 SMS par commande.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486400"/>
            <a:ext cx="5486400" cy="6858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Avec convention opérateurs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897880"/>
            <a:ext cx="54864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2400" b="1" i="0">
                <a:solidFill>
                  <a:srgbClr val="009E60"/>
                </a:solidFill>
                <a:latin typeface="Calibri"/>
              </a:rPr>
              <a:t>Coût nul ou marginal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309360"/>
            <a:ext cx="54864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Précédent : campagnes de santé publique et alertes sanitaires.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355080"/>
            <a:ext cx="11277295" cy="6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Confidentiel — Dispositif d’urgence hydrique du Grand Libreville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64592" cy="822960"/>
          </a:xfrm>
          <a:prstGeom prst="rect">
            <a:avLst/>
          </a:prstGeom>
          <a:solidFill>
            <a:srgbClr val="009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64592" cy="82296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6459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0080"/>
            <a:ext cx="100584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100" b="1" i="0" spc="400">
                <a:solidFill>
                  <a:srgbClr val="FCD116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058400" cy="22860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Allô Eau est opérationnelle,
testée et prête à servir le citoyen.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297680"/>
            <a:ext cx="1097280" cy="38000"/>
          </a:xfrm>
          <a:prstGeom prst="rect">
            <a:avLst/>
          </a:prstGeom>
          <a:solidFill>
            <a:srgbClr val="FCD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4 semaines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33832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Délai de mise à disposition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572000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21 quartiers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532120"/>
            <a:ext cx="33832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Couverture initiale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572000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Prêt maintenant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532120"/>
            <a:ext cx="338328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État de la plateforme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/>
            <a:r>
              <a:rPr sz="1200" b="1" i="0" spc="400">
                <a:solidFill>
                  <a:srgbClr val="FCD116"/>
                </a:solidFill>
                <a:latin typeface="Calibri"/>
              </a:rPr>
              <a:t>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